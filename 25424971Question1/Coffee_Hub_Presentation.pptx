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9866" y="2565602"/>
            <a:ext cx="14807547" cy="341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3"/>
              </a:lnSpc>
              <a:spcBef>
                <a:spcPct val="0"/>
              </a:spcBef>
            </a:pPr>
            <a:r>
              <a:rPr lang="en-US" sz="19980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Coffee Hub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39866" y="5090942"/>
            <a:ext cx="12428620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0"/>
              </a:lnSpc>
              <a:spcBef>
                <a:spcPct val="0"/>
              </a:spcBef>
            </a:pPr>
            <a:r>
              <a:rPr lang="en-US" sz="15000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</a:t>
            </a:r>
            <a:r>
              <a:rPr lang="en-US" sz="15000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rief</a:t>
            </a:r>
          </a:p>
        </p:txBody>
      </p:sp>
      <p:sp>
        <p:nvSpPr>
          <p:cNvPr name="AutoShape 4" id="4"/>
          <p:cNvSpPr/>
          <p:nvPr/>
        </p:nvSpPr>
        <p:spPr>
          <a:xfrm>
            <a:off x="8037037" y="6500642"/>
            <a:ext cx="6492240" cy="0"/>
          </a:xfrm>
          <a:prstGeom prst="line">
            <a:avLst/>
          </a:prstGeom>
          <a:ln cap="flat" w="85725">
            <a:solidFill>
              <a:srgbClr val="353F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8128" y="1286101"/>
            <a:ext cx="217174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53F8B"/>
                </a:solidFill>
                <a:latin typeface="Poppins Bold"/>
                <a:ea typeface="Poppins Bold"/>
                <a:cs typeface="Poppins Bold"/>
                <a:sym typeface="Poppins Bold"/>
              </a:rPr>
              <a:t>25424971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06977" y="1286101"/>
            <a:ext cx="217174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53F8B"/>
                </a:solidFill>
                <a:latin typeface="Poppins Bold"/>
                <a:ea typeface="Poppins Bold"/>
                <a:cs typeface="Poppins Bold"/>
                <a:sym typeface="Poppins Bold"/>
              </a:rPr>
              <a:t>June 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12769" y="7159256"/>
            <a:ext cx="8080081" cy="145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7"/>
              </a:lnSpc>
              <a:spcBef>
                <a:spcPct val="0"/>
              </a:spcBef>
            </a:pPr>
            <a:r>
              <a:rPr lang="en-US" sz="2083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An analysis of the potential coffee distributors for Coffee Hub, Stellenbosch. The cost, the roaster company, the roast strength, and reviews of the coffees are considered.</a:t>
            </a:r>
          </a:p>
          <a:p>
            <a:pPr algn="just">
              <a:lnSpc>
                <a:spcPts val="2777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14550" y="6906083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7824" y="2524467"/>
            <a:ext cx="9280204" cy="7452173"/>
          </a:xfrm>
          <a:custGeom>
            <a:avLst/>
            <a:gdLst/>
            <a:ahLst/>
            <a:cxnLst/>
            <a:rect r="r" b="b" t="t" l="l"/>
            <a:pathLst>
              <a:path h="7452173" w="9280204">
                <a:moveTo>
                  <a:pt x="0" y="0"/>
                </a:moveTo>
                <a:lnTo>
                  <a:pt x="9280204" y="0"/>
                </a:lnTo>
                <a:lnTo>
                  <a:pt x="9280204" y="7452172"/>
                </a:lnTo>
                <a:lnTo>
                  <a:pt x="0" y="7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31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0081" y="37632"/>
            <a:ext cx="15958641" cy="381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2"/>
              </a:lnSpc>
            </a:pPr>
            <a:r>
              <a:rPr lang="en-US" sz="70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Rating and Price by Roaster Location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913428" y="2873576"/>
            <a:ext cx="7041707" cy="343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0"/>
              </a:lnSpc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Australia and England are clear outliers. Although roasters in these</a:t>
            </a:r>
          </a:p>
          <a:p>
            <a:pPr algn="just">
              <a:lnSpc>
                <a:spcPts val="3030"/>
              </a:lnSpc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countries have, on average, the highest ratings, all the countries receive an average rating of 90 or</a:t>
            </a:r>
          </a:p>
          <a:p>
            <a:pPr algn="just">
              <a:lnSpc>
                <a:spcPts val="3030"/>
              </a:lnSpc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above. I would suggest that the prices disqualify the further consideration of Australian and English</a:t>
            </a:r>
          </a:p>
          <a:p>
            <a:pPr algn="just">
              <a:lnSpc>
                <a:spcPts val="3030"/>
              </a:lnSpc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roasters.</a:t>
            </a:r>
          </a:p>
          <a:p>
            <a:pPr algn="just">
              <a:lnSpc>
                <a:spcPts val="3030"/>
              </a:lnSpc>
              <a:spcBef>
                <a:spcPct val="0"/>
              </a:spcBef>
            </a:pPr>
          </a:p>
          <a:p>
            <a:pPr algn="just">
              <a:lnSpc>
                <a:spcPts val="29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675" y="2568955"/>
            <a:ext cx="9943730" cy="7582094"/>
          </a:xfrm>
          <a:custGeom>
            <a:avLst/>
            <a:gdLst/>
            <a:ahLst/>
            <a:cxnLst/>
            <a:rect r="r" b="b" t="t" l="l"/>
            <a:pathLst>
              <a:path h="7582094" w="9943730">
                <a:moveTo>
                  <a:pt x="0" y="0"/>
                </a:moveTo>
                <a:lnTo>
                  <a:pt x="9943730" y="0"/>
                </a:lnTo>
                <a:lnTo>
                  <a:pt x="9943730" y="7582095"/>
                </a:lnTo>
                <a:lnTo>
                  <a:pt x="0" y="7582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0081" y="37632"/>
            <a:ext cx="15958641" cy="381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2"/>
              </a:lnSpc>
            </a:pPr>
            <a:r>
              <a:rPr lang="en-US" sz="70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Rating and Price by Roast Level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913428" y="2873576"/>
            <a:ext cx="7041707" cy="190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0"/>
              </a:lnSpc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Light roast has the highest average rating, but also the highest average cost. Dark has the lowest</a:t>
            </a:r>
          </a:p>
          <a:p>
            <a:pPr algn="just">
              <a:lnSpc>
                <a:spcPts val="3030"/>
              </a:lnSpc>
              <a:spcBef>
                <a:spcPct val="0"/>
              </a:spcBef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average rating and the lowest cost. Medium-light and medium roast offer a middle-ground.</a:t>
            </a:r>
          </a:p>
          <a:p>
            <a:pPr algn="just">
              <a:lnSpc>
                <a:spcPts val="29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2715" y="2271590"/>
            <a:ext cx="9879092" cy="7532807"/>
          </a:xfrm>
          <a:custGeom>
            <a:avLst/>
            <a:gdLst/>
            <a:ahLst/>
            <a:cxnLst/>
            <a:rect r="r" b="b" t="t" l="l"/>
            <a:pathLst>
              <a:path h="7532807" w="9879092">
                <a:moveTo>
                  <a:pt x="0" y="0"/>
                </a:moveTo>
                <a:lnTo>
                  <a:pt x="9879092" y="0"/>
                </a:lnTo>
                <a:lnTo>
                  <a:pt x="9879092" y="7532807"/>
                </a:lnTo>
                <a:lnTo>
                  <a:pt x="0" y="7532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0081" y="66207"/>
            <a:ext cx="15958641" cy="33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59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Rating and Price by Roaster Location, excluding Outliers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913428" y="2873576"/>
            <a:ext cx="7041707" cy="114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0"/>
              </a:lnSpc>
              <a:spcBef>
                <a:spcPct val="0"/>
              </a:spcBef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Ratings cluster between 92 and 94, however, outliers in price remain.</a:t>
            </a:r>
          </a:p>
          <a:p>
            <a:pPr algn="just">
              <a:lnSpc>
                <a:spcPts val="29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81421" y="2105215"/>
            <a:ext cx="9899683" cy="7548508"/>
          </a:xfrm>
          <a:custGeom>
            <a:avLst/>
            <a:gdLst/>
            <a:ahLst/>
            <a:cxnLst/>
            <a:rect r="r" b="b" t="t" l="l"/>
            <a:pathLst>
              <a:path h="7548508" w="9899683">
                <a:moveTo>
                  <a:pt x="0" y="0"/>
                </a:moveTo>
                <a:lnTo>
                  <a:pt x="9899683" y="0"/>
                </a:lnTo>
                <a:lnTo>
                  <a:pt x="9899683" y="7548508"/>
                </a:lnTo>
                <a:lnTo>
                  <a:pt x="0" y="754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0081" y="66207"/>
            <a:ext cx="15958641" cy="33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59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Rating and Price by Review Indicator Words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82599" y="3592210"/>
            <a:ext cx="7041707" cy="228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0"/>
              </a:lnSpc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Coffee brands that have reviews describing the aroma and chocolatiness of the</a:t>
            </a:r>
          </a:p>
          <a:p>
            <a:pPr algn="just">
              <a:lnSpc>
                <a:spcPts val="3030"/>
              </a:lnSpc>
              <a:spcBef>
                <a:spcPct val="0"/>
              </a:spcBef>
            </a:pPr>
            <a:r>
              <a:rPr lang="en-US" sz="2164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coffee are the best deal when it comes to the ratings-price relationship. Subsequent analysis will be focused on these observations.</a:t>
            </a:r>
          </a:p>
          <a:p>
            <a:pPr algn="just">
              <a:lnSpc>
                <a:spcPts val="2908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37877" y="7200900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37877" y="7200900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14382" y="1917360"/>
            <a:ext cx="9958812" cy="7593594"/>
          </a:xfrm>
          <a:custGeom>
            <a:avLst/>
            <a:gdLst/>
            <a:ahLst/>
            <a:cxnLst/>
            <a:rect r="r" b="b" t="t" l="l"/>
            <a:pathLst>
              <a:path h="7593594" w="9958812">
                <a:moveTo>
                  <a:pt x="0" y="0"/>
                </a:moveTo>
                <a:lnTo>
                  <a:pt x="9958813" y="0"/>
                </a:lnTo>
                <a:lnTo>
                  <a:pt x="9958813" y="7593594"/>
                </a:lnTo>
                <a:lnTo>
                  <a:pt x="0" y="7593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901" y="512255"/>
            <a:ext cx="15958641" cy="235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59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Boxplot by Country and Roast Level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8696" y="3318101"/>
            <a:ext cx="7386712" cy="239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The goal is to trim the most expensive coffee products. The boxplot shows the outliers in red. The boxplot</a:t>
            </a:r>
          </a:p>
          <a:p>
            <a:pPr algn="just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also illustrates that Taiwan and the US are the have the most roasters.</a:t>
            </a:r>
          </a:p>
          <a:p>
            <a:pPr algn="just">
              <a:lnSpc>
                <a:spcPts val="30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37877" y="7200900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67455" y="1553654"/>
            <a:ext cx="10104454" cy="7704646"/>
          </a:xfrm>
          <a:custGeom>
            <a:avLst/>
            <a:gdLst/>
            <a:ahLst/>
            <a:cxnLst/>
            <a:rect r="r" b="b" t="t" l="l"/>
            <a:pathLst>
              <a:path h="7704646" w="10104454">
                <a:moveTo>
                  <a:pt x="0" y="0"/>
                </a:moveTo>
                <a:lnTo>
                  <a:pt x="10104455" y="0"/>
                </a:lnTo>
                <a:lnTo>
                  <a:pt x="10104455" y="7704646"/>
                </a:lnTo>
                <a:lnTo>
                  <a:pt x="0" y="7704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901" y="512255"/>
            <a:ext cx="15958641" cy="235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59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Price Distribution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8696" y="3318101"/>
            <a:ext cx="7386712" cy="239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The distribution in price aids in determining where a hard cap on the price should be. At USD8 per</a:t>
            </a:r>
          </a:p>
          <a:p>
            <a:pPr algn="just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100 grams, there is a fall in the number of coffee products sold at this price, and provides a reasonable cap.</a:t>
            </a:r>
          </a:p>
          <a:p>
            <a:pPr algn="just">
              <a:lnSpc>
                <a:spcPts val="30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37877" y="7200900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66577" y="1753929"/>
            <a:ext cx="10026193" cy="7644972"/>
          </a:xfrm>
          <a:custGeom>
            <a:avLst/>
            <a:gdLst/>
            <a:ahLst/>
            <a:cxnLst/>
            <a:rect r="r" b="b" t="t" l="l"/>
            <a:pathLst>
              <a:path h="7644972" w="10026193">
                <a:moveTo>
                  <a:pt x="0" y="0"/>
                </a:moveTo>
                <a:lnTo>
                  <a:pt x="10026193" y="0"/>
                </a:lnTo>
                <a:lnTo>
                  <a:pt x="10026193" y="7644972"/>
                </a:lnTo>
                <a:lnTo>
                  <a:pt x="0" y="7644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901" y="512255"/>
            <a:ext cx="15958641" cy="33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59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ratings by roaster and roast level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8696" y="3318101"/>
            <a:ext cx="7386712" cy="279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This plot depicts the average ratings by roaster and roast level once the coffee products that have a cost larger than USD8 and roasters that only supply one remaining product have been filtered out. The reasoning is that a distributor can provide a diversified selction of products.</a:t>
            </a:r>
          </a:p>
          <a:p>
            <a:pPr algn="just">
              <a:lnSpc>
                <a:spcPts val="30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37877" y="7200900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17894" y="1740055"/>
            <a:ext cx="10353106" cy="7894244"/>
          </a:xfrm>
          <a:custGeom>
            <a:avLst/>
            <a:gdLst/>
            <a:ahLst/>
            <a:cxnLst/>
            <a:rect r="r" b="b" t="t" l="l"/>
            <a:pathLst>
              <a:path h="7894244" w="10353106">
                <a:moveTo>
                  <a:pt x="0" y="0"/>
                </a:moveTo>
                <a:lnTo>
                  <a:pt x="10353107" y="0"/>
                </a:lnTo>
                <a:lnTo>
                  <a:pt x="10353107" y="7894244"/>
                </a:lnTo>
                <a:lnTo>
                  <a:pt x="0" y="7894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901" y="512255"/>
            <a:ext cx="15958641" cy="235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5922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Prices and Ratings for Roasters</a:t>
            </a:r>
          </a:p>
          <a:p>
            <a:pPr algn="l">
              <a:lnSpc>
                <a:spcPts val="1081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8696" y="3318101"/>
            <a:ext cx="7386712" cy="279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The plot displays the price-ratings relationship for narrowd-down roasters. Kakalove Cafe is promising supplier, with most of its product prices falling the lowest, and receiving the highest</a:t>
            </a:r>
          </a:p>
          <a:p>
            <a:pPr algn="just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353F8B"/>
                </a:solidFill>
                <a:latin typeface="Poppins"/>
                <a:ea typeface="Poppins"/>
                <a:cs typeface="Poppins"/>
                <a:sym typeface="Poppins"/>
              </a:rPr>
              <a:t>some of the highest ratings. They also produce a variety of products.</a:t>
            </a:r>
          </a:p>
          <a:p>
            <a:pPr algn="just">
              <a:lnSpc>
                <a:spcPts val="30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0039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7800" y="-730024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5542" y="-443115"/>
            <a:ext cx="2704916" cy="1770491"/>
          </a:xfrm>
          <a:custGeom>
            <a:avLst/>
            <a:gdLst/>
            <a:ahLst/>
            <a:cxnLst/>
            <a:rect r="r" b="b" t="t" l="l"/>
            <a:pathLst>
              <a:path h="1770491" w="2704916">
                <a:moveTo>
                  <a:pt x="0" y="0"/>
                </a:moveTo>
                <a:lnTo>
                  <a:pt x="2704916" y="0"/>
                </a:lnTo>
                <a:lnTo>
                  <a:pt x="2704916" y="1770491"/>
                </a:lnTo>
                <a:lnTo>
                  <a:pt x="0" y="1770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195" y="7919239"/>
            <a:ext cx="6286500" cy="4114800"/>
          </a:xfrm>
          <a:custGeom>
            <a:avLst/>
            <a:gdLst/>
            <a:ahLst/>
            <a:cxnLst/>
            <a:rect r="r" b="b" t="t" l="l"/>
            <a:pathLst>
              <a:path h="4114800" w="6286500">
                <a:moveTo>
                  <a:pt x="0" y="0"/>
                </a:moveTo>
                <a:lnTo>
                  <a:pt x="6286500" y="0"/>
                </a:lnTo>
                <a:lnTo>
                  <a:pt x="6286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01132" y="2702847"/>
            <a:ext cx="8787462" cy="162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397"/>
              </a:lnSpc>
              <a:spcBef>
                <a:spcPct val="0"/>
              </a:spcBef>
            </a:pPr>
            <a:r>
              <a:rPr lang="en-US" sz="9569">
                <a:solidFill>
                  <a:srgbClr val="353F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7144" y="4209272"/>
            <a:ext cx="14811451" cy="157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353F8B"/>
                </a:solidFill>
                <a:latin typeface="Poppins Bold"/>
                <a:ea typeface="Poppins Bold"/>
                <a:cs typeface="Poppins Bold"/>
                <a:sym typeface="Poppins Bold"/>
              </a:rPr>
              <a:t>Roast level, cost,  reviews, ratings, and country of production are all reviewed to determine that Kakalove Cafe is the best distributor for Coffee 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DAHJcE8852U</dc:identifier>
  <dcterms:modified xsi:type="dcterms:W3CDTF">2011-08-01T06:04:30Z</dcterms:modified>
  <cp:revision>1</cp:revision>
  <dc:title>Blue and White Modern Creative Brief Presentation</dc:title>
</cp:coreProperties>
</file>